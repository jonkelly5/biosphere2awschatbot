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10" r:id="rId3"/>
    <p:sldId id="314" r:id="rId4"/>
    <p:sldId id="317" r:id="rId5"/>
    <p:sldId id="321" r:id="rId6"/>
    <p:sldId id="320" r:id="rId7"/>
    <p:sldId id="319" r:id="rId8"/>
    <p:sldId id="318" r:id="rId9"/>
    <p:sldId id="324" r:id="rId10"/>
    <p:sldId id="322" r:id="rId11"/>
    <p:sldId id="315" r:id="rId12"/>
    <p:sldId id="323" r:id="rId13"/>
    <p:sldId id="31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AEB"/>
    <a:srgbClr val="FF9900"/>
    <a:srgbClr val="313A44"/>
    <a:srgbClr val="444C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15" autoAdjust="0"/>
    <p:restoredTop sz="85479" autoAdjust="0"/>
  </p:normalViewPr>
  <p:slideViewPr>
    <p:cSldViewPr>
      <p:cViewPr varScale="1">
        <p:scale>
          <a:sx n="136" d="100"/>
          <a:sy n="136" d="100"/>
        </p:scale>
        <p:origin x="236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2C747-78BB-4517-9FEA-E84457540F2A}" type="datetimeFigureOut">
              <a:rPr lang="en-US" smtClean="0"/>
              <a:pPr/>
              <a:t>4/25/26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1D178-E8D3-48A8-B0CE-2DA629A8E6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6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Yes</a:t>
            </a:r>
            <a:r>
              <a:rPr lang="en-US" baseline="0" dirty="0"/>
              <a:t> that sub-title is a mouthful: We’ll start by defining those qualifiers on Fruits.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6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Curl command to invoke a Lambda via API gateway to prompt a Bedrock AI agent with a S3 knowledge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44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Legos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Quick overview of the 4 main services we will be using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64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Claude, Llama, Nova, </a:t>
            </a:r>
            <a:r>
              <a:rPr lang="en-US" sz="1200" dirty="0" err="1"/>
              <a:t>Deepseek</a:t>
            </a:r>
            <a:r>
              <a:rPr lang="en-US" sz="1200" dirty="0"/>
              <a:t>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29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Storage Service</a:t>
            </a:r>
          </a:p>
          <a:p>
            <a:endParaRPr lang="en-US" dirty="0"/>
          </a:p>
          <a:p>
            <a:r>
              <a:rPr lang="en-US" dirty="0"/>
              <a:t>3kb or 3TB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70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 to set up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Only pay for the time it is running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6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68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should I use CDK?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See what changed, by who and why with git commit history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Code acts the same in test and prod environments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CDK knows what order to deploy the infrastructure to prevent permission errors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AI can write the code all in one consolidated 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14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can take some time to configure and currently don’t have great CDK constructs to build them in code.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speed up the demo I’m instead going to have the lambda include the knowledge base in its prompt to the bedrock model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Using an Agent takes more time to configure but </a:t>
            </a:r>
            <a:br>
              <a:rPr lang="en-US" dirty="0"/>
            </a:br>
            <a:r>
              <a:rPr lang="en-US" dirty="0"/>
              <a:t> - Cheaper as the only search relevant content in the knowledge base</a:t>
            </a:r>
            <a:br>
              <a:rPr lang="en-US" dirty="0"/>
            </a:br>
            <a:r>
              <a:rPr lang="en-US" dirty="0"/>
              <a:t> - Perform actions to trigger other AWS services</a:t>
            </a:r>
            <a:br>
              <a:rPr lang="en-US" dirty="0"/>
            </a:br>
            <a:r>
              <a:rPr lang="en-US" dirty="0"/>
              <a:t> - Have multi-step reasoning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Short question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81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16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1D178-E8D3-48A8-B0CE-2DA629A8E69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8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79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8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6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0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8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2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0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6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8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15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9EAEB"/>
            </a:gs>
            <a:gs pos="7000">
              <a:schemeClr val="bg1">
                <a:lumMod val="0"/>
                <a:lumOff val="10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629400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Amazon Confidential 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1"/>
            <a:ext cx="9144000" cy="457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0" y="6427264"/>
            <a:ext cx="919720" cy="278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967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56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Building an AWS AI Chatbot</a:t>
            </a:r>
            <a:br>
              <a:rPr lang="en-US" dirty="0"/>
            </a:br>
            <a:r>
              <a:rPr lang="en-US" dirty="0"/>
              <a:t>in 45 Minutes with CDK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553200" cy="1752600"/>
          </a:xfrm>
        </p:spPr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172200" y="5791200"/>
            <a:ext cx="26670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882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Jon Kelly</a:t>
            </a:r>
          </a:p>
          <a:p>
            <a:r>
              <a:rPr lang="en-US" dirty="0"/>
              <a:t>Amazon Software Development Engineer</a:t>
            </a:r>
          </a:p>
          <a:p>
            <a:r>
              <a:rPr lang="en-US" dirty="0"/>
              <a:t>4 years of experience</a:t>
            </a:r>
          </a:p>
          <a:p>
            <a:r>
              <a:rPr lang="en-US" dirty="0"/>
              <a:t>Iowa State alumni</a:t>
            </a:r>
          </a:p>
        </p:txBody>
      </p:sp>
    </p:spTree>
    <p:extLst>
      <p:ext uri="{BB962C8B-B14F-4D97-AF65-F5344CB8AC3E}">
        <p14:creationId xmlns:p14="http://schemas.microsoft.com/office/powerpoint/2010/main" val="2276175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49EE-E004-524F-6500-2C409EE0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172C81-6D56-FC92-54AE-B2E7311F0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74" y="2514600"/>
            <a:ext cx="8830852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26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4F7A-D321-E70D-5489-3463A7B3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those symbols mean?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D1B61-E96F-92C4-D2AE-A338B34D4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1798856"/>
            <a:ext cx="1384300" cy="133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573BCF-4183-3E36-38FD-C9181AA0B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469" y="1817736"/>
            <a:ext cx="1219200" cy="133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BEE191-684A-1D26-DC77-45116591A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3586082"/>
            <a:ext cx="1397000" cy="137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08CE62-BE5C-DD72-03D9-7A970C8CC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0" y="1726625"/>
            <a:ext cx="1397000" cy="1320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8D5F6E-59DF-7426-EC44-1943E4740C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2350" y="1875056"/>
            <a:ext cx="1270000" cy="1257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478B75-D96F-9CC1-4562-401E3DC45D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3450" y="3659420"/>
            <a:ext cx="1447800" cy="1320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2D20FA-C3AB-4A26-7E23-08E2F0228F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0529" y="3633554"/>
            <a:ext cx="1244600" cy="1308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1F7C5B-4135-E5A6-A354-6A33A47163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8747" y="3665304"/>
            <a:ext cx="1206500" cy="1244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92BA2ED-4B35-BDD6-2722-6C0D275B5B2B}"/>
              </a:ext>
            </a:extLst>
          </p:cNvPr>
          <p:cNvSpPr txBox="1"/>
          <p:nvPr/>
        </p:nvSpPr>
        <p:spPr>
          <a:xfrm>
            <a:off x="2527269" y="1130526"/>
            <a:ext cx="3835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 200 different services within AWS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5B5BB9-6E45-1308-918B-8C6B1FCB84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922" y="1862851"/>
            <a:ext cx="1333500" cy="13081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DA4BB1C-9BA3-C752-452A-79BE3D5E0A39}"/>
              </a:ext>
            </a:extLst>
          </p:cNvPr>
          <p:cNvSpPr txBox="1"/>
          <p:nvPr/>
        </p:nvSpPr>
        <p:spPr>
          <a:xfrm>
            <a:off x="264676" y="3132356"/>
            <a:ext cx="1528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CloudFormation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5E333-39A9-160C-B5A6-3EBAAA3E4ED9}"/>
              </a:ext>
            </a:extLst>
          </p:cNvPr>
          <p:cNvSpPr txBox="1"/>
          <p:nvPr/>
        </p:nvSpPr>
        <p:spPr>
          <a:xfrm>
            <a:off x="2292350" y="3094751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API Gateway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FF527-E19E-D993-76FF-731899DAA8CC}"/>
              </a:ext>
            </a:extLst>
          </p:cNvPr>
          <p:cNvSpPr txBox="1"/>
          <p:nvPr/>
        </p:nvSpPr>
        <p:spPr>
          <a:xfrm>
            <a:off x="4207213" y="3093511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Dynamo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F66F88-6595-56DC-20A3-0D61F0D0D5B7}"/>
              </a:ext>
            </a:extLst>
          </p:cNvPr>
          <p:cNvSpPr txBox="1"/>
          <p:nvPr/>
        </p:nvSpPr>
        <p:spPr>
          <a:xfrm>
            <a:off x="5889348" y="3093511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Lambda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9C518E-7019-CBC3-8BD1-B527BEE13A24}"/>
              </a:ext>
            </a:extLst>
          </p:cNvPr>
          <p:cNvSpPr txBox="1"/>
          <p:nvPr/>
        </p:nvSpPr>
        <p:spPr>
          <a:xfrm>
            <a:off x="7678785" y="3093511"/>
            <a:ext cx="7714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Kendra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20BDB8-9AD6-E8A8-DDA3-CF9C3EA4DF2C}"/>
              </a:ext>
            </a:extLst>
          </p:cNvPr>
          <p:cNvSpPr txBox="1"/>
          <p:nvPr/>
        </p:nvSpPr>
        <p:spPr>
          <a:xfrm>
            <a:off x="785299" y="4903912"/>
            <a:ext cx="486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9D34C5-5FAD-203D-EEDA-A0394939E897}"/>
              </a:ext>
            </a:extLst>
          </p:cNvPr>
          <p:cNvSpPr txBox="1"/>
          <p:nvPr/>
        </p:nvSpPr>
        <p:spPr>
          <a:xfrm>
            <a:off x="2476759" y="4903088"/>
            <a:ext cx="864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Bedrock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4028B1-FC12-3EBF-6B34-E39A97E2DF87}"/>
              </a:ext>
            </a:extLst>
          </p:cNvPr>
          <p:cNvSpPr txBox="1"/>
          <p:nvPr/>
        </p:nvSpPr>
        <p:spPr>
          <a:xfrm>
            <a:off x="5840971" y="4980220"/>
            <a:ext cx="1110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CloudFront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ABFABC-2A98-9F09-BFF1-E02AAE34F713}"/>
              </a:ext>
            </a:extLst>
          </p:cNvPr>
          <p:cNvSpPr txBox="1"/>
          <p:nvPr/>
        </p:nvSpPr>
        <p:spPr>
          <a:xfrm>
            <a:off x="4521110" y="4941654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0CD0D9-B2E0-D56F-227B-024350EF6EB8}"/>
              </a:ext>
            </a:extLst>
          </p:cNvPr>
          <p:cNvSpPr txBox="1"/>
          <p:nvPr/>
        </p:nvSpPr>
        <p:spPr>
          <a:xfrm>
            <a:off x="7799844" y="4909904"/>
            <a:ext cx="5293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IAM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2E17CBC-855E-8BA4-B119-B786C25163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77125" y="3664838"/>
            <a:ext cx="1174750" cy="11747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9E92FB8-8064-F83F-9AA5-B1A30804EDE3}"/>
              </a:ext>
            </a:extLst>
          </p:cNvPr>
          <p:cNvSpPr txBox="1"/>
          <p:nvPr/>
        </p:nvSpPr>
        <p:spPr>
          <a:xfrm>
            <a:off x="7134373" y="5117653"/>
            <a:ext cx="20858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Identity and Access Management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62AD80-8C3D-4D01-6EC7-70188542D118}"/>
              </a:ext>
            </a:extLst>
          </p:cNvPr>
          <p:cNvSpPr txBox="1"/>
          <p:nvPr/>
        </p:nvSpPr>
        <p:spPr>
          <a:xfrm>
            <a:off x="295262" y="5121500"/>
            <a:ext cx="15215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Elastic Container Service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7D759E-E15C-5CCC-9600-EAC8D38C1444}"/>
              </a:ext>
            </a:extLst>
          </p:cNvPr>
          <p:cNvSpPr txBox="1"/>
          <p:nvPr/>
        </p:nvSpPr>
        <p:spPr>
          <a:xfrm>
            <a:off x="4052074" y="5156284"/>
            <a:ext cx="14269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Simple Storage Service</a:t>
            </a:r>
          </a:p>
        </p:txBody>
      </p:sp>
    </p:spTree>
    <p:extLst>
      <p:ext uri="{BB962C8B-B14F-4D97-AF65-F5344CB8AC3E}">
        <p14:creationId xmlns:p14="http://schemas.microsoft.com/office/powerpoint/2010/main" val="318360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C365-B759-BAEF-0449-25845BD9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F41B-7A66-8878-A5FA-34E6B1EA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Bedrock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0231D4-E6CE-1D8F-1D50-86729D094BD4}"/>
              </a:ext>
            </a:extLst>
          </p:cNvPr>
          <p:cNvSpPr txBox="1">
            <a:spLocks/>
          </p:cNvSpPr>
          <p:nvPr/>
        </p:nvSpPr>
        <p:spPr>
          <a:xfrm>
            <a:off x="457200" y="3192483"/>
            <a:ext cx="8229600" cy="2854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AWS platform for running LLMs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Agent and knowledge base configuration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7A4A5C-BBF0-C8B9-A36A-FB61348F0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758" y="1295400"/>
            <a:ext cx="1804484" cy="164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0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1341-48DE-8988-882A-08E4AC759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899B-9100-EE7C-F050-CD2E262E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848EBA-5BAF-C004-B675-16BF503A21AD}"/>
              </a:ext>
            </a:extLst>
          </p:cNvPr>
          <p:cNvSpPr txBox="1">
            <a:spLocks/>
          </p:cNvSpPr>
          <p:nvPr/>
        </p:nvSpPr>
        <p:spPr>
          <a:xfrm>
            <a:off x="457200" y="3192483"/>
            <a:ext cx="8229600" cy="2854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Folder on the cloud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Can store anything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2D3D06-1D15-57BA-7933-BD94FB459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764" y="1295400"/>
            <a:ext cx="1624471" cy="170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8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59AE-A1D9-E774-9FC7-8098A0407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22AD5F-4DC8-706C-191E-0A0B4FD60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86213" y="1417638"/>
            <a:ext cx="1771574" cy="170656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7D1568-080A-9224-727B-70D025D4E000}"/>
              </a:ext>
            </a:extLst>
          </p:cNvPr>
          <p:cNvSpPr txBox="1">
            <a:spLocks/>
          </p:cNvSpPr>
          <p:nvPr/>
        </p:nvSpPr>
        <p:spPr>
          <a:xfrm>
            <a:off x="457200" y="3192483"/>
            <a:ext cx="8229600" cy="2854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Short lived server set up by Amazon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Self scaling</a:t>
            </a:r>
          </a:p>
        </p:txBody>
      </p:sp>
    </p:spTree>
    <p:extLst>
      <p:ext uri="{BB962C8B-B14F-4D97-AF65-F5344CB8AC3E}">
        <p14:creationId xmlns:p14="http://schemas.microsoft.com/office/powerpoint/2010/main" val="3356487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9A18-95B2-3C81-2351-F5EE37922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Gateway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B35327-F162-86D8-6C8F-1B044321F738}"/>
              </a:ext>
            </a:extLst>
          </p:cNvPr>
          <p:cNvSpPr txBox="1">
            <a:spLocks/>
          </p:cNvSpPr>
          <p:nvPr/>
        </p:nvSpPr>
        <p:spPr>
          <a:xfrm>
            <a:off x="457200" y="3399312"/>
            <a:ext cx="8229600" cy="2854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Maps HTTP requests to a lambda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Can’t call the lambda directly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9DE319-03A9-3CC7-91D3-A8C35A28F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00" y="1417638"/>
            <a:ext cx="1701800" cy="168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2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F8C1-D3E3-139B-7B96-085201BB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AWS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A2DEB-BCA9-9EFB-93B0-1F7CF07D3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Create via console or with code </a:t>
            </a:r>
            <a:r>
              <a:rPr lang="en-US" sz="1800" dirty="0"/>
              <a:t>(Cloud Development Kit)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09404-2B5C-8F71-0091-556D167B2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940076"/>
            <a:ext cx="8153400" cy="491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1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75A1C-C787-F692-1CA5-431C0EA58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BB3F-5F63-2E07-913E-FC6B5AF6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Infrastructure as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A3717-99FF-8786-6600-0C921CD0C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138" y="15240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Version Control </a:t>
            </a:r>
          </a:p>
          <a:p>
            <a:r>
              <a:rPr lang="en-US" dirty="0"/>
              <a:t>Reproducible </a:t>
            </a:r>
          </a:p>
          <a:p>
            <a:r>
              <a:rPr lang="en-US" dirty="0"/>
              <a:t>Dependency ordering</a:t>
            </a:r>
          </a:p>
          <a:p>
            <a:r>
              <a:rPr lang="en-US" dirty="0"/>
              <a:t>Build with speed using AI</a:t>
            </a:r>
          </a:p>
        </p:txBody>
      </p:sp>
    </p:spTree>
    <p:extLst>
      <p:ext uri="{BB962C8B-B14F-4D97-AF65-F5344CB8AC3E}">
        <p14:creationId xmlns:p14="http://schemas.microsoft.com/office/powerpoint/2010/main" val="105903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F3FA-12C3-5591-CC4B-98A363BE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Clarification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5F08C1-72C7-AA92-4478-9499FED87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17638"/>
            <a:ext cx="7772400" cy="42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7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E054-82C8-15FE-D210-2FD59EFC9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0"/>
            <a:ext cx="8229600" cy="1143000"/>
          </a:xfrm>
        </p:spPr>
        <p:txBody>
          <a:bodyPr/>
          <a:lstStyle/>
          <a:p>
            <a:r>
              <a:rPr lang="en-US" dirty="0"/>
              <a:t>Let’s Build It</a:t>
            </a:r>
          </a:p>
        </p:txBody>
      </p:sp>
    </p:spTree>
    <p:extLst>
      <p:ext uri="{BB962C8B-B14F-4D97-AF65-F5344CB8AC3E}">
        <p14:creationId xmlns:p14="http://schemas.microsoft.com/office/powerpoint/2010/main" val="452513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7BF6-77DC-42B2-F5F9-321C0C38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Stretch Goal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7E7DBE-D44E-A651-F252-B50546CB3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54" y="1439646"/>
            <a:ext cx="8683092" cy="397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43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3777</TotalTime>
  <Words>379</Words>
  <Application>Microsoft Macintosh PowerPoint</Application>
  <PresentationFormat>On-screen Show (4:3)</PresentationFormat>
  <Paragraphs>66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Building an AWS AI Chatbot in 45 Minutes with CDK </vt:lpstr>
      <vt:lpstr>Me</vt:lpstr>
      <vt:lpstr>The Goal</vt:lpstr>
      <vt:lpstr>What do those symbols mean?</vt:lpstr>
      <vt:lpstr>Bedrock</vt:lpstr>
      <vt:lpstr>S3</vt:lpstr>
      <vt:lpstr>Lambda</vt:lpstr>
      <vt:lpstr>API Gateway</vt:lpstr>
      <vt:lpstr>Using AWS services</vt:lpstr>
      <vt:lpstr>Why Infrastructure as Code</vt:lpstr>
      <vt:lpstr>Quick Clarification</vt:lpstr>
      <vt:lpstr>Let’s Build It</vt:lpstr>
      <vt:lpstr>The Stretch Goal</vt:lpstr>
    </vt:vector>
  </TitlesOfParts>
  <Company>Amazon.com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1</dc:title>
  <dc:creator>Garland, James</dc:creator>
  <cp:lastModifiedBy>Kelly, Jon</cp:lastModifiedBy>
  <cp:revision>237</cp:revision>
  <dcterms:created xsi:type="dcterms:W3CDTF">2012-11-28T16:53:20Z</dcterms:created>
  <dcterms:modified xsi:type="dcterms:W3CDTF">2026-04-25T23:11:22Z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2026-04-24T03:22:52Z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64318830-6d8c-4bef-81d6-d7ad55dc4a42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